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calmly. One sentence: Gleame is a conversion-optimization system for Shopify beauty stores — the AI try-on is the engine, the product is the funnel, the recommender, and the measurement. State the plan: ~20 minutes, then questions; you will walk through the system, the production results, and the one thing you would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Promise the payoff up front so the build section reads as setup, not the whole talk. The thread: the model works; the engineering of interest is everything around it, and the rigor is in the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structural costs, one root cause. Existing options are weak: AR filters do not map to real SKUs; quizzes do not show anything. Gleame's wedge is showing the recommended product on the shopper.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founder should picture this on their own store. BEFORE THE TALK: consider replacing this with a real 15-second screen recording or three real screenshots — a real before/after is the strongest single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Reframe: this is a CRO system, not a try-on widget. The model is one component; these five subsystems are the engineering. The assistant is also the highest-intent surface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spine. Plant the shape now; we return to it with real numbers. A deliberate brief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browser widget, server endpoints, data and AI. Emphasize no iframe — same-origin gives direct cart access, speed, and trust. Legend: solid blue is an AI call; dashed is the cart_token join used for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Narrate one shopper. The roughly twenty seconds is a UX estimate I still need to instrument end-to-end — say so. It becomes the central finding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design insight — slow down. Normal recommenders need data you do not have on day one. Inverting to elicit-and-infer is the answer; learning is a later upgrade, not a prerequisite.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parts: a classifier that is a labeler (enum + temperature 0 means it cannot return a value the matrix does not understand) and a deterministic JSONB-equality lookup. Say plainly: no ML scoring — that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tiering is a cost and quality decision, not only latency. The fallback chain is reliability engineering — single-provider face editing is fragile. The safety-framed prompt is how the OpenAI path avoids refusals.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central engineering tension. Name it explicitly: even optimized, value arrives after a perceived ~20 s, mostly on mobile — and that is exactly the funnel leak. Owning it reads as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consumer founder will ask unit economics. Lead with the structure. Do not quote a dollar figure that is not in the codebase; give the formula and, only if pushed, a pre-measured rate-card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storefront request crosses this boundary before doing expensive work. Volunteer the in-memory rate-limiter caveat — owning limits reads better than hiding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Tracking must never slow the shopper path, so it is fire-and-forget; real attribution is reconciled server-side via the cart token and the orders webhook. Flag the events-not-sessions limitation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production data — most candidates have none. The funnel is healthy everywhere except the photo step, a 66% drop. Everything downstream converts. The whole business is gated on that one mobile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clearly the A/B is Shopify-native — you built the product and instrumentation, not the experiment framework. Blended is negative, but the device split is the story: desktop wins, mobile loses, mobile dominates traffic. Volunteer the small-sample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conclusion. Two independent sources triangulate to one cause: mobile photo friction. Deliver it plainly and without theatrics. The next move is product, not more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you think in roadmaps. Item one directly attacks the diagnosed leak. Returns measurement is the unmeasured second-order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reframe and the actionable conclusion. Invite hard questions — you have the answer bank cold. If asked unit economics, give the formula and a pre-measured number, never an improvised dollar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372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200" b="1" i="0">
                <a:solidFill>
                  <a:srgbClr val="1A1A1A"/>
                </a:solidFill>
                <a:latin typeface="Arial"/>
              </a:rPr>
              <a:t>Gleame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5B6470"/>
                </a:solidFill>
                <a:latin typeface="Arial"/>
              </a:rPr>
              <a:t>An AI conversion assistant for Shopify beauty stores — virtual try-on and personalized product recommendation.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57200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A1A1A"/>
                </a:solidFill>
                <a:latin typeface="Arial"/>
              </a:rPr>
              <a:t>Charlie Gao</a:t>
            </a:r>
          </a:p>
          <a:p>
            <a:r>
              <a:rPr sz="1300" b="0" i="0">
                <a:solidFill>
                  <a:srgbClr val="5B6470"/>
                </a:solidFill>
                <a:latin typeface="Arial"/>
              </a:rPr>
              <a:t>Second-round interview · Neo / Foothill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1 — THE SYSTEM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Architecture, the cold-start recommender, the image pipeline, security, and measurement.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53511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2 — PRODUCTION RESULTS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A live funnel and a Shopify-native A/B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32503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3 — DIAGNOSIS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Two independent signals resolving to one root cause.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11495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4 — ROADMAP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highest-leverage next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Why this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135727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PROBLEM 1 — CONVERSION</a:t>
            </a:r>
          </a:p>
          <a:p>
            <a:pPr>
              <a:spcBef>
                <a:spcPts val="600"/>
              </a:spcBef>
            </a:pPr>
            <a:r>
              <a:rPr sz="1450" b="0" i="0">
                <a:solidFill>
                  <a:srgbClr val="1A1A1A"/>
                </a:solidFill>
                <a:latin typeface="Arial"/>
              </a:rPr>
              <a:t>Shoppers cannot tell whether a shade suits their skin from a flat product photo. Uncertainty suppresses purchases.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874519"/>
            <a:ext cx="5135727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PROBLEM 2 — RETURNS</a:t>
            </a:r>
          </a:p>
          <a:p>
            <a:pPr>
              <a:spcBef>
                <a:spcPts val="600"/>
              </a:spcBef>
            </a:pPr>
            <a:r>
              <a:rPr sz="1450" b="0" i="0">
                <a:solidFill>
                  <a:srgbClr val="1A1A1A"/>
                </a:solidFill>
                <a:latin typeface="Arial"/>
              </a:rPr>
              <a:t>When they buy and the shade is wrong, it is returned — eroding margin and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10637215" cy="155448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50" b="0" i="0">
                <a:solidFill>
                  <a:srgbClr val="1A1A1A"/>
                </a:solidFill>
                <a:latin typeface="Arial"/>
              </a:rPr>
              <a:t>Both problems share one cause: the product cannot be experienced before purchase. </a:t>
            </a:r>
            <a:r>
              <a:rPr sz="1550" b="0" i="0">
                <a:solidFill>
                  <a:srgbClr val="1A1A1A"/>
                </a:solidFill>
                <a:latin typeface="Arial"/>
              </a:rPr>
              <a:t>Gleame personalizes with a couple of questions and a selfie, recommends real in-catalog products, and renders each one on the shopper's own 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What the shopper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29260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 i="0">
                <a:solidFill>
                  <a:srgbClr val="1A1A1A"/>
                </a:solidFill>
                <a:latin typeface="Arial"/>
              </a:rPr>
              <a:t>1 · Consult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A couple of guided questions (e.g. undertone).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39896" y="3337560"/>
            <a:ext cx="856335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32807" y="2651760"/>
            <a:ext cx="29260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 i="0">
                <a:solidFill>
                  <a:srgbClr val="1A1A1A"/>
                </a:solidFill>
                <a:latin typeface="Arial"/>
              </a:rPr>
              <a:t>2 · Selfie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Photo captured or uploaded; analyzed automatically.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95463" y="3337560"/>
            <a:ext cx="856336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88375" y="2651760"/>
            <a:ext cx="29260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 i="0">
                <a:solidFill>
                  <a:srgbClr val="1A1A1A"/>
                </a:solidFill>
                <a:latin typeface="Arial"/>
              </a:rPr>
              <a:t>3 · Recommendations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Three products, each rendered on the shopper's 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5B6470"/>
                </a:solidFill>
                <a:latin typeface="Arial"/>
              </a:rPr>
              <a:t>End to end in roughly twenty seconds: from a couple of taps to three shades shown on the shopper.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The assistant is five subsystems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0189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COLD-START RECOMMENDER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A1A"/>
                </a:solidFill>
                <a:latin typeface="Arial"/>
              </a:rPr>
              <a:t>Elicits and infers preferences with no behavioral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IMAGE-GENERATION PIPELINE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A1A"/>
                </a:solidFill>
                <a:latin typeface="Arial"/>
              </a:rPr>
              <a:t>Multi-model, parallel, fallback-hardened try-ons.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2556" y="1874519"/>
            <a:ext cx="330189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DETERMINISTIC PROMPT GENERATION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A1A"/>
                </a:solidFill>
                <a:latin typeface="Arial"/>
              </a:rPr>
              <a:t>Funnel-driven, reproducible, merchant-controlled.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79"/>
            <a:ext cx="330189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MULTI-TENANT SECURITY BOUNDARY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A1A"/>
                </a:solidFill>
                <a:latin typeface="Arial"/>
              </a:rPr>
              <a:t>Domain verification, billing gate, tiered rate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3611879"/>
            <a:ext cx="3301898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ANALYTICS &amp; ATTRIBUTION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A1A"/>
                </a:solidFill>
                <a:latin typeface="Arial"/>
              </a:rPr>
              <a:t>Funnel events reconciled to orders via cart token.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3611879"/>
            <a:ext cx="3301898" cy="1417320"/>
          </a:xfrm>
          <a:prstGeom prst="roundRect">
            <a:avLst>
              <a:gd name="adj" fmla="val 4500"/>
            </a:avLst>
          </a:prstGeom>
          <a:solidFill>
            <a:srgbClr val="E7EDF4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STOREFRONT SURFACE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A1A"/>
                </a:solidFill>
                <a:latin typeface="Arial"/>
              </a:rPr>
              <a:t>Vanilla-JS Shopify theme extension — on-domain, no iframe.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The funnel the system optimizes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52447" y="1920240"/>
            <a:ext cx="8686800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Open the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3927" y="2633472"/>
            <a:ext cx="7863840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Consultation (a couple of questions)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4007" y="3346704"/>
            <a:ext cx="6583680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Upload a selfie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087" y="4059936"/>
            <a:ext cx="5303520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See personalized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4167" y="4773168"/>
            <a:ext cx="4023360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Click through and purchase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5B6470"/>
                </a:solidFill>
                <a:latin typeface="Arial"/>
              </a:rPr>
              <a:t>Every design decision exists to move shoppers down this funnel — and to measure where they leave.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2194560" cy="361188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i="0">
                <a:solidFill>
                  <a:srgbClr val="1F4E79"/>
                </a:solidFill>
                <a:latin typeface="Arial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057400"/>
            <a:ext cx="3886200" cy="361188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746504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i="0">
                <a:solidFill>
                  <a:srgbClr val="5B6470"/>
                </a:solidFill>
                <a:latin typeface="Arial"/>
              </a:rPr>
              <a:t>REMIX SERVER  /API/STOREFRONT/*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57400"/>
            <a:ext cx="4007815" cy="178308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46504"/>
            <a:ext cx="40078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i="0">
                <a:solidFill>
                  <a:srgbClr val="1E7A46"/>
                </a:solidFill>
                <a:latin typeface="Arial"/>
              </a:rPr>
              <a:t>SUPABASE / POSTGRES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977639"/>
            <a:ext cx="4007815" cy="169164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666744"/>
            <a:ext cx="40078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1" i="0">
                <a:solidFill>
                  <a:srgbClr val="1F4E79"/>
                </a:solidFill>
                <a:latin typeface="Arial"/>
              </a:rPr>
              <a:t>AI PROVIDERS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377440"/>
            <a:ext cx="1920240" cy="685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</a:rPr>
              <a:t>gleame-chat.js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widget · state machine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1920240" cy="640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</a:rPr>
              <a:t>gleame-camera.js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desktop webcam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377440"/>
            <a:ext cx="173736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</a:rPr>
              <a:t>chat-config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copy · axes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377440"/>
            <a:ext cx="173736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</a:rPr>
              <a:t>recommend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the brain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200400"/>
            <a:ext cx="173736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</a:rPr>
              <a:t>transform-image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per-product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200400"/>
            <a:ext cx="173736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</a:rPr>
              <a:t>track-event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funnel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754880"/>
            <a:ext cx="1737360" cy="6217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</a:rPr>
              <a:t>webhooks/orders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attribution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331720"/>
            <a:ext cx="3733495" cy="4389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150" b="1" i="0">
                <a:solidFill>
                  <a:srgbClr val="1A1A1A"/>
                </a:solidFill>
                <a:latin typeface="Arial"/>
              </a:rPr>
              <a:t>recommendation_rules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834640"/>
            <a:ext cx="3733495" cy="4389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150" b="1" i="0">
                <a:solidFill>
                  <a:srgbClr val="1A1A1A"/>
                </a:solidFill>
                <a:latin typeface="Arial"/>
              </a:rPr>
              <a:t>analytics_events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337560"/>
            <a:ext cx="3733495" cy="4389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150" b="1" i="0">
                <a:solidFill>
                  <a:srgbClr val="1A1A1A"/>
                </a:solidFill>
                <a:latin typeface="Arial"/>
              </a:rPr>
              <a:t>widget_orders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251960"/>
            <a:ext cx="3733495" cy="502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Google Gemini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image-gen + vision · primary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846320"/>
            <a:ext cx="3733495" cy="457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OpenAI gpt-image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fallback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834640" y="2688336"/>
            <a:ext cx="548640" cy="9144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4640" y="2834640"/>
            <a:ext cx="548640" cy="594360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040879" y="2560320"/>
            <a:ext cx="502921" cy="45720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7999" y="2971800"/>
            <a:ext cx="685801" cy="146304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040879" y="3044952"/>
            <a:ext cx="502921" cy="429768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410547" y="3273552"/>
            <a:ext cx="0" cy="64008"/>
          </a:xfrm>
          <a:prstGeom prst="line">
            <a:avLst/>
          </a:prstGeom>
          <a:ln w="15875">
            <a:solidFill>
              <a:srgbClr val="1F4E7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035040" y="3474720"/>
            <a:ext cx="1508760" cy="1417320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10547" y="4754880"/>
            <a:ext cx="0" cy="91440"/>
          </a:xfrm>
          <a:prstGeom prst="line">
            <a:avLst/>
          </a:prstGeom>
          <a:ln w="9525">
            <a:solidFill>
              <a:srgbClr val="5B647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7240" y="5806440"/>
            <a:ext cx="106372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——  </a:t>
            </a:r>
            <a:r>
              <a:rPr sz="1150" b="0" i="0">
                <a:solidFill>
                  <a:srgbClr val="5B6470"/>
                </a:solidFill>
                <a:latin typeface="Arial"/>
              </a:rPr>
              <a:t>AI call        </a:t>
            </a:r>
            <a:r>
              <a:rPr sz="1200" b="1" i="0">
                <a:solidFill>
                  <a:srgbClr val="1F4E79"/>
                </a:solidFill>
                <a:latin typeface="Arial"/>
              </a:rPr>
              <a:t>----  </a:t>
            </a:r>
            <a:r>
              <a:rPr sz="1150" b="0" i="0">
                <a:solidFill>
                  <a:srgbClr val="5B6470"/>
                </a:solidFill>
                <a:latin typeface="Arial"/>
              </a:rPr>
              <a:t>cart_token join (analytics_events → widget_orders)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A single recommendation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44287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1 · Boot — fetch chat-config + recommendation-config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2 · Consult — answers accumulate into a criteria object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3 · Photo — selfie posted to /chat-recommend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4 · Gauntlet — verify shop, billing, rate-limit, 5 MB cap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5 · Classify — Gemini reads the selfie into axes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874519"/>
            <a:ext cx="5044287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6 · Match — JSONB-equality lookup, ordered by rank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7 · Render — top-N try-ons generated in parallel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8 · Backfill — a failed generation is replaced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9 · Resolve — batched Admin GraphQL for product handles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10 · Return — cards rendered to the shopper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32120"/>
            <a:ext cx="10637215" cy="77724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 i="0">
                <a:solidFill>
                  <a:srgbClr val="1A1A1A"/>
                </a:solidFill>
                <a:latin typeface="Arial"/>
              </a:rPr>
              <a:t>Presented to the shopper as a calm three-step consultation; underneath, a security pass, a classification, a deterministic lookup, and N parallel generations with backfill.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Recommendation under cold-start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90007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THE CONSTRAINT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A1A1A"/>
                </a:solidFill>
                <a:latin typeface="Arial"/>
              </a:rPr>
              <a:t>A newly installed merchant has no click or purchase history. A learned recommender has nothing to train on at install.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65960"/>
            <a:ext cx="5090007" cy="2194560"/>
          </a:xfrm>
          <a:prstGeom prst="roundRect">
            <a:avLst>
              <a:gd name="adj" fmla="val 4500"/>
            </a:avLst>
          </a:prstGeom>
          <a:solidFill>
            <a:srgbClr val="E7EDF4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THE APPROACH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A1A1A"/>
                </a:solidFill>
                <a:latin typeface="Arial"/>
              </a:rPr>
              <a:t>Elicit preferences with a couple of questions; infer the rest from the photo; map the result to a merchant-authored rules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10637215" cy="96012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50" b="0" i="0">
                <a:solidFill>
                  <a:srgbClr val="1A1A1A"/>
                </a:solidFill>
                <a:latin typeface="Arial"/>
              </a:rPr>
              <a:t>Deterministic, debuggable, and merchant-controlled — it works at zero users, and is the substrate to layer learning onto once volume justifies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From selfie to ranked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90007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PHOTO CLASSIFIER — A LABELER, NOT A GENERATOR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724247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300" b="0" i="0">
                <a:solidFill>
                  <a:srgbClr val="1A1A1A"/>
                </a:solidFill>
                <a:latin typeface="Arial"/>
              </a:rPr>
              <a:t>gemini-2.5-flash used as a vision classifier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300" b="0" i="0">
                <a:solidFill>
                  <a:srgbClr val="1A1A1A"/>
                </a:solidFill>
                <a:latin typeface="Arial"/>
              </a:rPr>
              <a:t>output constrained to an enum per axis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300" b="0" i="0">
                <a:solidFill>
                  <a:srgbClr val="1A1A1A"/>
                </a:solidFill>
                <a:latin typeface="Arial"/>
              </a:rPr>
              <a:t>temperature 0 — deterministic; cannot emit an unknown value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300" b="0" i="0">
                <a:solidFill>
                  <a:srgbClr val="1A1A1A"/>
                </a:solidFill>
                <a:latin typeface="Arial"/>
              </a:rPr>
              <a:t>768 px · 12 s timeout · errors degrade to no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965960"/>
            <a:ext cx="5090007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THE MATCH — STRICT JSONB EQUALITY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1A1A1A"/>
                </a:solidFill>
                <a:latin typeface="Consolas"/>
              </a:rPr>
              <a:t>SELECT variant_id, product_id, rank
FROM recommendation_rules
WHERE shop_id = $1
  AND criteria = $2::jsonb
ORDER BY rank;</a:t>
            </a:r>
          </a:p>
          <a:p>
            <a:pPr>
              <a:spcBef>
                <a:spcPts val="1000"/>
              </a:spcBef>
            </a:pPr>
            <a:r>
              <a:rPr sz="1250" b="0" i="0">
                <a:solidFill>
                  <a:srgbClr val="5B6470"/>
                </a:solidFill>
                <a:latin typeface="Arial"/>
              </a:rPr>
              <a:t>A rule matches or it does not — no fuzzy scoring. One indexed hit; no match falls back to a shuffled, product-diverse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IMAGE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Personalized try-on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65960"/>
            <a:ext cx="548640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984248"/>
            <a:ext cx="2761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5B6470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1984248"/>
            <a:ext cx="25420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5B6470"/>
                </a:solidFill>
                <a:latin typeface="Arial"/>
              </a:rPr>
              <a:t>Role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468880"/>
            <a:ext cx="548640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487168"/>
            <a:ext cx="2761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gemini-3-pro-image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87168"/>
            <a:ext cx="25420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Variant configs — precise makeup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971800"/>
            <a:ext cx="5486400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990088"/>
            <a:ext cx="2761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gemini-2.5-flash-image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990088"/>
            <a:ext cx="25420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Standard — fast and low cost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474720"/>
            <a:ext cx="5486400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493008"/>
            <a:ext cx="2761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gemini-3.1-flash (2K)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493008"/>
            <a:ext cx="25420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High-detail input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3977639"/>
            <a:ext cx="5486400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995927"/>
            <a:ext cx="276148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gpt-image-1.5 (OpenAI)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995927"/>
            <a:ext cx="254203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Fallback and refusal handling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480559"/>
            <a:ext cx="5486400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12279" y="2011680"/>
            <a:ext cx="4602175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Build prompt + fetch references (SSRF-safe)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13367" y="2578608"/>
            <a:ext cx="0" cy="146304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79" y="2743200"/>
            <a:ext cx="4602175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Compress · resize · HEIC→JPEG · EXIF-rotate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13367" y="3310128"/>
            <a:ext cx="0" cy="146304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12279" y="3474720"/>
            <a:ext cx="4602175" cy="566928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Gemini · 2 retries with backoff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13367" y="4041648"/>
            <a:ext cx="0" cy="146304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12279" y="4206240"/>
            <a:ext cx="4602175" cy="566928"/>
          </a:xfrm>
          <a:prstGeom prst="roundRect">
            <a:avLst>
              <a:gd name="adj" fmla="val 4500"/>
            </a:avLst>
          </a:prstGeom>
          <a:solidFill>
            <a:srgbClr val="E7EDF4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On failure → OpenAI · safety-framed 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257800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0" i="0">
                <a:solidFill>
                  <a:srgbClr val="1A1A1A"/>
                </a:solidFill>
                <a:latin typeface="Arial"/>
              </a:rPr>
              <a:t>Top-N generations run in parallel, so wall-clock ≈ one image; backfill guarantees a full result set. Outputs are not cached — each is a function of one shopper's photo.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KEY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Latency, cost, and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01898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LATENCY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1A1A1A"/>
                </a:solidFill>
                <a:latin typeface="Arial"/>
              </a:rPr>
              <a:t>Parallel generation, input downscaling, capped retries, and a consultation UI that makes the wait purposeful.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965960"/>
            <a:ext cx="3301898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COST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1A1A1A"/>
                </a:solidFill>
                <a:latin typeface="Arial"/>
              </a:rPr>
              <a:t>Flash by default and pro only where precision pays; generate only what is shown; rate limits as a circuit-breaker.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2556" y="1965960"/>
            <a:ext cx="3301898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QUALITY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1A1A1A"/>
                </a:solidFill>
                <a:latin typeface="Arial"/>
              </a:rPr>
              <a:t>Real product reference images, a deep-skin visibility strategy, and the pro model for makeup precision.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54880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 i="0">
                <a:solidFill>
                  <a:srgbClr val="1A1A1A"/>
                </a:solidFill>
                <a:latin typeface="Arial"/>
              </a:rPr>
              <a:t>These three pull against each other; nearly every decision is a response. Even optimized, an estimated ~20 s wait — mostly on mobile — precedes value. </a:t>
            </a:r>
            <a:r>
              <a:rPr sz="1400" b="1" i="0">
                <a:solidFill>
                  <a:srgbClr val="1A1A1A"/>
                </a:solidFill>
                <a:latin typeface="Arial"/>
              </a:rPr>
              <a:t>That estimate is the finding the data later confirms.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Flat revenue, variable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90007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REVENUE — FLAT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A1A1A"/>
                </a:solidFill>
                <a:latin typeface="Arial"/>
              </a:rPr>
              <a:t>Session-based subscription tiers: Free $0 · Starter $30 · Launch $149 · Growth $399. The merchant pays the same regardless of try-on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65960"/>
            <a:ext cx="5090007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COST — VARIABLE, PER SESSION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Consolas"/>
              </a:rPr>
              <a:t>cost = N × image-gen + 1 × classification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5B6470"/>
                </a:solidFill>
                <a:latin typeface="Arial"/>
              </a:rPr>
              <a:t>N = 3 by default (configurable 1–5). Scales with every completed flow. Per-image price comes from the provider rate card — not asserted from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10637215" cy="96012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50" b="0" i="0">
                <a:solidFill>
                  <a:srgbClr val="1A1A1A"/>
                </a:solidFill>
                <a:latin typeface="Arial"/>
              </a:rPr>
              <a:t>Flat revenue against variable cost is why model tiering, generate-only-what-is-shown, and rate limits are margin decisions — not only performance 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Multi-tenant request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20240"/>
            <a:ext cx="10637215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938528"/>
            <a:ext cx="352521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5B6470"/>
                </a:solidFill>
                <a:latin typeface="Arial"/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3893" y="1938528"/>
            <a:ext cx="692912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5B6470"/>
                </a:solidFill>
                <a:latin typeface="Arial"/>
              </a:rPr>
              <a:t>Purpose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423160"/>
            <a:ext cx="10637215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441448"/>
            <a:ext cx="352521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Shop-domain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3893" y="2441448"/>
            <a:ext cx="692912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Prevents cross-shop data access and rate-limit spoofing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926080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944368"/>
            <a:ext cx="352521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Billing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3893" y="2944368"/>
            <a:ext cx="692912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Blocks unpaid usage (active / trial / grace / grandfathered)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429000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447288"/>
            <a:ext cx="352521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Tiered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3893" y="3447288"/>
            <a:ext cx="692912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20/min · 100/hr per IP · 1000/hr per shop · 10/min on recommend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3931920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950207"/>
            <a:ext cx="352521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Input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3893" y="3950207"/>
            <a:ext cx="692912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5 MB cap, MIME and extension checks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434840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453127"/>
            <a:ext cx="352521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SSRF-safe 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3893" y="4453127"/>
            <a:ext cx="692912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Guards merchant-supplied reference-image URLs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4937759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956047"/>
            <a:ext cx="352521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Deterministic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3893" y="4956047"/>
            <a:ext cx="692912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No free-text reaches the model — no injection surface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5440679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5715000"/>
            <a:ext cx="10637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5B6470"/>
                </a:solidFill>
                <a:latin typeface="Arial"/>
              </a:rPr>
              <a:t>Honest limitation: the rate limiter is in-memory today — correct for current scale, and Redis-backed to scale horizontally.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Funnel analytics and purchase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1874519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trackEvent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client · fire-and-forget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79191" y="2990087"/>
            <a:ext cx="261290" cy="0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67913" y="2560320"/>
            <a:ext cx="1874519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analytics_events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+ cart_token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9865" y="2990087"/>
            <a:ext cx="261290" cy="0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58587" y="2560320"/>
            <a:ext cx="1874519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orders/create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Shopify webhook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60539" y="2990087"/>
            <a:ext cx="261290" cy="0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49261" y="2560320"/>
            <a:ext cx="1874519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widget_orders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+ journey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51213" y="2990087"/>
            <a:ext cx="261290" cy="0"/>
          </a:xfrm>
          <a:prstGeom prst="line">
            <a:avLst/>
          </a:prstGeom>
          <a:ln w="15875">
            <a:solidFill>
              <a:srgbClr val="5B64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39935" y="2560320"/>
            <a:ext cx="1874519" cy="868680"/>
          </a:xfrm>
          <a:prstGeom prst="roundRect">
            <a:avLst>
              <a:gd name="adj" fmla="val 4500"/>
            </a:avLst>
          </a:prstGeom>
          <a:solidFill>
            <a:srgbClr val="E7EDF4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get_conversion_stats()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470"/>
                </a:solidFill>
                <a:latin typeface="Arial"/>
              </a:rPr>
              <a:t>attributed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5B6470"/>
                </a:solidFill>
                <a:latin typeface="Arial"/>
              </a:rPr>
              <a:t>The cart token is the only reliable session-to-order join on Shopify. Counts are event volume, not unique sessions (no session ID yet) — directional, and sufficient for relative funnel health.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Funnel: one step dominates drop-off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Arial"/>
              </a:rPr>
              <a:t>Assistant opened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011680"/>
            <a:ext cx="5852160" cy="384048"/>
          </a:xfrm>
          <a:prstGeom prst="roundRect">
            <a:avLst>
              <a:gd name="adj" fmla="val 45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984248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Arial"/>
              </a:rPr>
              <a:t>Consultation 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615184"/>
            <a:ext cx="5613296" cy="384048"/>
          </a:xfrm>
          <a:prstGeom prst="roundRect">
            <a:avLst>
              <a:gd name="adj" fmla="val 45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5176" y="2587752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235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3816" y="2587752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1E7A46"/>
                </a:solidFill>
                <a:latin typeface="Arial"/>
              </a:rPr>
              <a:t>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Arial"/>
              </a:rPr>
              <a:t>Photo uploaded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218688"/>
            <a:ext cx="1887023" cy="384048"/>
          </a:xfrm>
          <a:prstGeom prst="roundRect">
            <a:avLst>
              <a:gd name="adj" fmla="val 4500"/>
            </a:avLst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8903" y="3191256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7543" y="3191256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B4232A"/>
                </a:solidFill>
                <a:latin typeface="Arial"/>
              </a:rPr>
              <a:t>34% — 66%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Arial"/>
              </a:rPr>
              <a:t>Recommendations shown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822192"/>
            <a:ext cx="1863136" cy="384048"/>
          </a:xfrm>
          <a:prstGeom prst="roundRect">
            <a:avLst>
              <a:gd name="adj" fmla="val 45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5016" y="3794760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3656" y="3794760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1E7A46"/>
                </a:solidFill>
                <a:latin typeface="Arial"/>
              </a:rPr>
              <a:t>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98264"/>
            <a:ext cx="2651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Arial"/>
              </a:rPr>
              <a:t>Product clicked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425696"/>
            <a:ext cx="907681" cy="384048"/>
          </a:xfrm>
          <a:prstGeom prst="roundRect">
            <a:avLst>
              <a:gd name="adj" fmla="val 45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9561" y="4398264"/>
            <a:ext cx="914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Arial"/>
              </a:rPr>
              <a:t>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8201" y="4398264"/>
            <a:ext cx="2926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1E7A46"/>
                </a:solidFill>
                <a:latin typeface="Arial"/>
              </a:rPr>
              <a:t>49%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212080"/>
            <a:ext cx="10637215" cy="91440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5875">
            <a:solidFill>
              <a:srgbClr val="B42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50" b="1" i="0">
                <a:solidFill>
                  <a:srgbClr val="B4232A"/>
                </a:solidFill>
                <a:latin typeface="Arial"/>
              </a:rPr>
              <a:t>Diagnosis: 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every stage after a photo converts well. The business is gated on a single step — getting a mobile shopper to upload a photo.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99632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B6470"/>
                </a:solidFill>
                <a:latin typeface="Arial"/>
              </a:rPr>
              <a:t>Live on a production Shopify store · last 7 days · event volume, not unique sessions.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A/B test: negative in aggregate, positive on desktop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2011680"/>
            <a:ext cx="10637215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029968"/>
            <a:ext cx="352521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5B6470"/>
                </a:solidFill>
                <a:latin typeface="Arial"/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3893" y="2029968"/>
            <a:ext cx="224874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5B6470"/>
                </a:solidFill>
                <a:latin typeface="Arial"/>
              </a:rPr>
              <a:t>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4080" y="2029968"/>
            <a:ext cx="203600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5B6470"/>
                </a:solidFill>
                <a:latin typeface="Arial"/>
              </a:rPr>
              <a:t>AOV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1523" y="2029968"/>
            <a:ext cx="24614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5B6470"/>
                </a:solidFill>
                <a:latin typeface="Arial"/>
              </a:rPr>
              <a:t>Revenue / visitor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578608"/>
            <a:ext cx="10637215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596896"/>
            <a:ext cx="352521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Arial"/>
              </a:rPr>
              <a:t>Blended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893" y="2596896"/>
            <a:ext cx="224874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B4232A"/>
                </a:solidFill>
                <a:latin typeface="Arial"/>
              </a:rPr>
              <a:t>▼ 3.0% vs 3.7%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080" y="2596896"/>
            <a:ext cx="203600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E7A46"/>
                </a:solidFill>
                <a:latin typeface="Arial"/>
              </a:rPr>
              <a:t>▲ +7.5%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1523" y="2596896"/>
            <a:ext cx="24614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B4232A"/>
                </a:solidFill>
                <a:latin typeface="Arial"/>
              </a:rPr>
              <a:t>▼ down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145536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163824"/>
            <a:ext cx="352521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Arial"/>
              </a:rPr>
              <a:t>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3893" y="3163824"/>
            <a:ext cx="224874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E7A46"/>
                </a:solidFill>
                <a:latin typeface="Arial"/>
              </a:rPr>
              <a:t>▲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080" y="3163824"/>
            <a:ext cx="203600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E7A46"/>
                </a:solidFill>
                <a:latin typeface="Arial"/>
              </a:rPr>
              <a:t>▲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1523" y="3163824"/>
            <a:ext cx="24614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E7A46"/>
                </a:solidFill>
                <a:latin typeface="Arial"/>
              </a:rPr>
              <a:t>▲ up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3712464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3730752"/>
            <a:ext cx="352521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Arial"/>
              </a:rPr>
              <a:t>Mobile  (majority of traffic)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3893" y="3730752"/>
            <a:ext cx="2248747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B4232A"/>
                </a:solidFill>
                <a:latin typeface="Arial"/>
              </a:rPr>
              <a:t>▼ 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080" y="3730752"/>
            <a:ext cx="203600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5B6470"/>
                </a:solidFill>
                <a:latin typeface="Arial"/>
              </a:rPr>
              <a:t>~ flat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1523" y="3730752"/>
            <a:ext cx="24614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B4232A"/>
                </a:solidFill>
                <a:latin typeface="Arial"/>
              </a:rPr>
              <a:t>▼ down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4279392"/>
            <a:ext cx="10637215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" y="4663440"/>
            <a:ext cx="10637215" cy="100584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 i="0">
                <a:solidFill>
                  <a:srgbClr val="1A1A1A"/>
                </a:solidFill>
                <a:latin typeface="Arial"/>
              </a:rPr>
              <a:t>Higher AOV with lower conversion is signal, not noise: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Gleame attracts higher-basket buyers but loses marginal mobile converters at the photo step.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5B6470"/>
                </a:solidFill>
                <a:latin typeface="Arial"/>
              </a:rPr>
              <a:t>Shopify-native experiment. Sample ~60–74 conversions per arm — directional, not yet statistically significant.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Two signals, one root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90007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SIGNAL 1 — THE FUNNEL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A1A1A"/>
                </a:solidFill>
                <a:latin typeface="Arial"/>
              </a:rPr>
              <a:t>A 66% drop at the mobile photo step; everything downstream converts.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965960"/>
            <a:ext cx="5090007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SIGNAL 2 — THE A/B TEST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1A1A1A"/>
                </a:solidFill>
                <a:latin typeface="Arial"/>
              </a:rPr>
              <a:t>Desktop (frictionless photo) wins; mobile loses and drags the blend negative.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206240"/>
            <a:ext cx="10637215" cy="1371600"/>
          </a:xfrm>
          <a:prstGeom prst="roundRect">
            <a:avLst>
              <a:gd name="adj" fmla="val 4500"/>
            </a:avLst>
          </a:prstGeom>
          <a:solidFill>
            <a:srgbClr val="E7EDF4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The model works; the mobile photo step is the bottleneck.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This is a product fix, not a model fix — and the desktop result already proves the concept when shoppers clear that step.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What I would build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090007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1 · REDUCE MOBILE PHOTO FRICTION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A1A1A"/>
                </a:solidFill>
                <a:latin typeface="Arial"/>
              </a:rPr>
              <a:t>Stream one fast try-on first, backfill the rest; tighten camera UX and framing copy.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74519"/>
            <a:ext cx="5090007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2 · SESSION IDENTIFIERS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A1A1A"/>
                </a:solidFill>
                <a:latin typeface="Arial"/>
              </a:rPr>
              <a:t>Honest unique-user funnels and true per-session conversion.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83280"/>
            <a:ext cx="5090007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3 · LAYER LEARNING ON THE MATRIX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A1A1A"/>
                </a:solidFill>
                <a:latin typeface="Arial"/>
              </a:rPr>
              <a:t>Re-rank merchant rules by observed clicks and conversions.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3383280"/>
            <a:ext cx="5090007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4 · MEASURE RETURNS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A1A1A"/>
                </a:solidFill>
                <a:latin typeface="Arial"/>
              </a:rPr>
              <a:t>Validate the second-order thesis: accuracy reduces returns.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92040"/>
            <a:ext cx="5090007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5 · SCALE-OUT INFRASTRUCTURE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A1A1A"/>
                </a:solidFill>
                <a:latin typeface="Arial"/>
              </a:rPr>
              <a:t>Redis-backed rate limiter; a queue with streamed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4892040"/>
            <a:ext cx="5090007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050" b="1" i="0">
                <a:solidFill>
                  <a:srgbClr val="1F4E79"/>
                </a:solidFill>
                <a:latin typeface="Arial"/>
              </a:rPr>
              <a:t>6 · TARGETED CACHING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A1A1A"/>
                </a:solidFill>
                <a:latin typeface="Arial"/>
              </a:rPr>
              <a:t>Cache classifications and reference compressions, not final outputs.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1F4E79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 i="0">
                <a:solidFill>
                  <a:srgbClr val="1A1A1A"/>
                </a:solidFill>
                <a:latin typeface="Arial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66928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3737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470"/>
                </a:solidFill>
                <a:latin typeface="Arial"/>
              </a:rPr>
              <a:t>Gleame  · 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43737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470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3721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55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550" b="1" i="0">
                <a:solidFill>
                  <a:srgbClr val="1A1A1A"/>
                </a:solidFill>
                <a:latin typeface="Arial"/>
              </a:rPr>
              <a:t>A complete CRO system, </a:t>
            </a:r>
            <a:r>
              <a:rPr sz="1550" b="0" i="0">
                <a:solidFill>
                  <a:srgbClr val="1A1A1A"/>
                </a:solidFill>
                <a:latin typeface="Arial"/>
              </a:rPr>
              <a:t>not a model wrapper: recommender, image pipeline, prompt layer, security boundary, and attribution.</a:t>
            </a:r>
          </a:p>
          <a:p>
            <a:pPr>
              <a:spcAft>
                <a:spcPts val="1300"/>
              </a:spcAft>
            </a:pPr>
            <a:r>
              <a:rPr sz="155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550" b="1" i="0">
                <a:solidFill>
                  <a:srgbClr val="1A1A1A"/>
                </a:solidFill>
                <a:latin typeface="Arial"/>
              </a:rPr>
              <a:t>Built for cold-start: </a:t>
            </a:r>
            <a:r>
              <a:rPr sz="1550" b="0" i="0">
                <a:solidFill>
                  <a:srgbClr val="1A1A1A"/>
                </a:solidFill>
                <a:latin typeface="Arial"/>
              </a:rPr>
              <a:t>elicit and infer preferences, then map to a deterministic, merchant-controlled matrix.</a:t>
            </a:r>
          </a:p>
          <a:p>
            <a:pPr>
              <a:spcAft>
                <a:spcPts val="1300"/>
              </a:spcAft>
            </a:pPr>
            <a:r>
              <a:rPr sz="155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550" b="1" i="0">
                <a:solidFill>
                  <a:srgbClr val="1A1A1A"/>
                </a:solidFill>
                <a:latin typeface="Arial"/>
              </a:rPr>
              <a:t>Instrumented and A/B-tested in production, </a:t>
            </a:r>
            <a:r>
              <a:rPr sz="1550" b="0" i="0">
                <a:solidFill>
                  <a:srgbClr val="1A1A1A"/>
                </a:solidFill>
                <a:latin typeface="Arial"/>
              </a:rPr>
              <a:t>then diagnosed honestly.</a:t>
            </a:r>
          </a:p>
          <a:p>
            <a:pPr>
              <a:spcAft>
                <a:spcPts val="1300"/>
              </a:spcAft>
            </a:pPr>
            <a:r>
              <a:rPr sz="1550" b="1" i="0">
                <a:solidFill>
                  <a:srgbClr val="1F4E79"/>
                </a:solidFill>
                <a:latin typeface="Arial"/>
              </a:rPr>
              <a:t>—  </a:t>
            </a:r>
            <a:r>
              <a:rPr sz="1550" b="1" i="0">
                <a:solidFill>
                  <a:srgbClr val="1A1A1A"/>
                </a:solidFill>
                <a:latin typeface="Arial"/>
              </a:rPr>
              <a:t>The result is actionable: </a:t>
            </a:r>
            <a:r>
              <a:rPr sz="1550" b="0" i="0">
                <a:solidFill>
                  <a:srgbClr val="1A1A1A"/>
                </a:solidFill>
                <a:latin typeface="Arial"/>
              </a:rPr>
              <a:t>desktop validates the concept; one mobile-friction fix is the next unlock.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120640"/>
            <a:ext cx="10637215" cy="86868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 w="1270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Thank you. I'm happy to go deeper on any subsystem.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